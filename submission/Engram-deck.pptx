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28b39cf8e044f4" /><Relationship Type="http://schemas.openxmlformats.org/officeDocument/2006/relationships/extended-properties" Target="/docProps/app.xml" Id="R90c666fe50aa409e" /><Relationship Type="http://schemas.openxmlformats.org/officeDocument/2006/relationships/officeDocument" Target="/ppt/presentation.xml" Id="Rc40f239320774d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2ab5310e924bd6"/>
  </p:sldMasterIdLst>
  <p:notesMasterIdLst>
    <p:notesMasterId xmlns:r="http://schemas.openxmlformats.org/officeDocument/2006/relationships" r:id="Rd395e828e19e49e1"/>
  </p:notesMasterIdLst>
  <p:sldIdLst>
    <p:sldId xmlns:r="http://schemas.openxmlformats.org/officeDocument/2006/relationships" id="256" r:id="Ra3015908756546a6"/>
    <p:sldId xmlns:r="http://schemas.openxmlformats.org/officeDocument/2006/relationships" id="257" r:id="R9f986279674b4dea"/>
    <p:sldId xmlns:r="http://schemas.openxmlformats.org/officeDocument/2006/relationships" id="258" r:id="Rb80c0222844a42da"/>
    <p:sldId xmlns:r="http://schemas.openxmlformats.org/officeDocument/2006/relationships" id="259" r:id="R5ccae81af9e44c13"/>
    <p:sldId xmlns:r="http://schemas.openxmlformats.org/officeDocument/2006/relationships" id="260" r:id="R129a2b584a6346e1"/>
    <p:sldId xmlns:r="http://schemas.openxmlformats.org/officeDocument/2006/relationships" id="261" r:id="R75dacab45703472a"/>
    <p:sldId xmlns:r="http://schemas.openxmlformats.org/officeDocument/2006/relationships" id="262" r:id="R1c4676a8ce314fb4"/>
    <p:sldId xmlns:r="http://schemas.openxmlformats.org/officeDocument/2006/relationships" id="263" r:id="R73d1ddbff3904ff8"/>
    <p:sldId xmlns:r="http://schemas.openxmlformats.org/officeDocument/2006/relationships" id="264" r:id="Ra38eede44edb4020"/>
    <p:sldId xmlns:r="http://schemas.openxmlformats.org/officeDocument/2006/relationships" id="265" r:id="R9e195ae49aa64d33"/>
    <p:sldId xmlns:r="http://schemas.openxmlformats.org/officeDocument/2006/relationships" id="266" r:id="Re510d92ca4204df4"/>
    <p:sldId xmlns:r="http://schemas.openxmlformats.org/officeDocument/2006/relationships" id="267" r:id="Rbb1d49d1577b4a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dfe5198e93415c" /><Relationship Type="http://schemas.openxmlformats.org/officeDocument/2006/relationships/slideMaster" Target="/ppt/slideMasters/slideMaster1.xml" Id="Raa2ab5310e924bd6" /><Relationship Type="http://schemas.openxmlformats.org/officeDocument/2006/relationships/notesMaster" Target="/ppt/notesMasters/notesMaster1.xml" Id="Rd395e828e19e49e1" /><Relationship Type="http://schemas.openxmlformats.org/officeDocument/2006/relationships/presProps" Target="/ppt/presProps.xml" Id="R2ec6a725c9824b26" /><Relationship Type="http://schemas.openxmlformats.org/officeDocument/2006/relationships/tableStyles" Target="/ppt/tableStyles.xml" Id="R9b519ee992a347f5" /><Relationship Type="http://schemas.openxmlformats.org/officeDocument/2006/relationships/slide" Target="/ppt/slides/slide1.xml" Id="Ra3015908756546a6" /><Relationship Type="http://schemas.openxmlformats.org/officeDocument/2006/relationships/slide" Target="/ppt/slides/slide2.xml" Id="R9f986279674b4dea" /><Relationship Type="http://schemas.openxmlformats.org/officeDocument/2006/relationships/slide" Target="/ppt/slides/slide3.xml" Id="Rb80c0222844a42da" /><Relationship Type="http://schemas.openxmlformats.org/officeDocument/2006/relationships/slide" Target="/ppt/slides/slide4.xml" Id="R5ccae81af9e44c13" /><Relationship Type="http://schemas.openxmlformats.org/officeDocument/2006/relationships/slide" Target="/ppt/slides/slide5.xml" Id="R129a2b584a6346e1" /><Relationship Type="http://schemas.openxmlformats.org/officeDocument/2006/relationships/slide" Target="/ppt/slides/slide6.xml" Id="R75dacab45703472a" /><Relationship Type="http://schemas.openxmlformats.org/officeDocument/2006/relationships/slide" Target="/ppt/slides/slide7.xml" Id="R1c4676a8ce314fb4" /><Relationship Type="http://schemas.openxmlformats.org/officeDocument/2006/relationships/slide" Target="/ppt/slides/slide8.xml" Id="R73d1ddbff3904ff8" /><Relationship Type="http://schemas.openxmlformats.org/officeDocument/2006/relationships/slide" Target="/ppt/slides/slide9.xml" Id="Ra38eede44edb4020" /><Relationship Type="http://schemas.openxmlformats.org/officeDocument/2006/relationships/slide" Target="/ppt/slides/slide10.xml" Id="R9e195ae49aa64d33" /><Relationship Type="http://schemas.openxmlformats.org/officeDocument/2006/relationships/slide" Target="/ppt/slides/slide11.xml" Id="Re510d92ca4204df4" /><Relationship Type="http://schemas.openxmlformats.org/officeDocument/2006/relationships/slide" Target="/ppt/slides/slide12.xml" Id="Rbb1d49d1577b4a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e7b351008e41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2a73df074e4953" /><Relationship Type="http://schemas.openxmlformats.org/officeDocument/2006/relationships/notesMaster" Target="/ppt/notesMasters/notesMaster1.xml" Id="Rfe5436b7a85c4a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731dab3d624032" /><Relationship Type="http://schemas.openxmlformats.org/officeDocument/2006/relationships/notesMaster" Target="/ppt/notesMasters/notesMaster1.xml" Id="R2f91033ad84c47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92d80880934f9d" /><Relationship Type="http://schemas.openxmlformats.org/officeDocument/2006/relationships/notesMaster" Target="/ppt/notesMasters/notesMaster1.xml" Id="Rc8e42e71478c45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dc0df6193f416c" /><Relationship Type="http://schemas.openxmlformats.org/officeDocument/2006/relationships/notesMaster" Target="/ppt/notesMasters/notesMaster1.xml" Id="R60b77be546754d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f10a94378c4a40" /><Relationship Type="http://schemas.openxmlformats.org/officeDocument/2006/relationships/notesMaster" Target="/ppt/notesMasters/notesMaster1.xml" Id="Rff2b0f2218764d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de3b2673104bff" /><Relationship Type="http://schemas.openxmlformats.org/officeDocument/2006/relationships/notesMaster" Target="/ppt/notesMasters/notesMaster1.xml" Id="Ra61fd6e6d70146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786e4ead454ae3" /><Relationship Type="http://schemas.openxmlformats.org/officeDocument/2006/relationships/notesMaster" Target="/ppt/notesMasters/notesMaster1.xml" Id="R2cb2b9c1ba8f46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255a6404c34caa" /><Relationship Type="http://schemas.openxmlformats.org/officeDocument/2006/relationships/notesMaster" Target="/ppt/notesMasters/notesMaster1.xml" Id="Rd30d30dc307c4f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fef20d09014270" /><Relationship Type="http://schemas.openxmlformats.org/officeDocument/2006/relationships/notesMaster" Target="/ppt/notesMasters/notesMaster1.xml" Id="Reda9e700c4ea4c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eae51252a049bb" /><Relationship Type="http://schemas.openxmlformats.org/officeDocument/2006/relationships/notesMaster" Target="/ppt/notesMasters/notesMaster1.xml" Id="Rfe04b5d1f1ce42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63509a13024b50" /><Relationship Type="http://schemas.openxmlformats.org/officeDocument/2006/relationships/notesMaster" Target="/ppt/notesMasters/notesMaster1.xml" Id="Re45595d19ac24a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c59ea44abe4081" /><Relationship Type="http://schemas.openxmlformats.org/officeDocument/2006/relationships/notesMaster" Target="/ppt/notesMasters/notesMaster1.xml" Id="R0df540770f7047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Engram checks a recall against your stock and shows the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 public documents. Engram flags this discrepancy and keeps it visible instead of silently fixing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have not yet interviewed coordinators ourselves; this is our proposed first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Numbers from tonight’s live run on fictional hospital data served through Zetaris.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never does arithmetic and never decides whether a specific stock row is affected; code does.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Examples from real drafts during development. The checker verifies sources and specific claim patterns; it does not prove every paraphrase is right, so a human still reviews.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00ee3741. Earlier tonight the same case failed until we stopped letting the model skip the calculation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442 automated tests pass. Manual audit of the accepted text against the source notices found it accurate.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f8f793e4144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0b825a21748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5e825b52145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7a509e94249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d772600ad245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a17140d8b43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84BE2D-B3EF-4BF4-9251-A969B36467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44815E-E134-4C02-931E-0A70AC86EA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F299DF-3019-4885-B1E8-58DF33B2E9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1F4C21-902D-48A0-84F5-CCA7BED74F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3D55FE-E69B-42F5-B6E3-95EB055946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2BDB43-F346-4F3E-845A-B9A1CE297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A7CCC6-01D9-4DBB-971A-D6E2E89C0B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49210C4-0E1D-47D1-A64E-C60AAD8C37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1513A6-B596-4E13-99AF-DEDF455F2D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685760-4521-42A9-83B9-CC661503E4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cf2fa42cc545fb" /><Relationship Type="http://schemas.openxmlformats.org/officeDocument/2006/relationships/slideLayout" Target="/ppt/slideLayouts/slideLayout1.xml" Id="R770d34445fe84718" /><Relationship Type="http://schemas.openxmlformats.org/officeDocument/2006/relationships/slideLayout" Target="/ppt/slideLayouts/slideLayout2.xml" Id="R0a97f4cfecb14cd8" /><Relationship Type="http://schemas.openxmlformats.org/officeDocument/2006/relationships/slideLayout" Target="/ppt/slideLayouts/slideLayout3.xml" Id="Ra101d2409d4d4ba5" /><Relationship Type="http://schemas.openxmlformats.org/officeDocument/2006/relationships/slideLayout" Target="/ppt/slideLayouts/slideLayout4.xml" Id="R5de351b7fdbc4aca" /><Relationship Type="http://schemas.openxmlformats.org/officeDocument/2006/relationships/slideLayout" Target="/ppt/slideLayouts/slideLayout5.xml" Id="R6a7efc69ccd9407c" /><Relationship Type="http://schemas.openxmlformats.org/officeDocument/2006/relationships/slideLayout" Target="/ppt/slideLayouts/slideLayout6.xml" Id="Rb9fde3c2c01e45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0d34445fe84718"/>
    <p:sldLayoutId xmlns:r="http://schemas.openxmlformats.org/officeDocument/2006/relationships" id="2147483650" r:id="R0a97f4cfecb14cd8"/>
    <p:sldLayoutId xmlns:r="http://schemas.openxmlformats.org/officeDocument/2006/relationships" id="2147483651" r:id="Ra101d2409d4d4ba5"/>
    <p:sldLayoutId xmlns:r="http://schemas.openxmlformats.org/officeDocument/2006/relationships" id="2147483652" r:id="R5de351b7fdbc4aca"/>
    <p:sldLayoutId xmlns:r="http://schemas.openxmlformats.org/officeDocument/2006/relationships" id="2147483653" r:id="R6a7efc69ccd9407c"/>
    <p:sldLayoutId xmlns:r="http://schemas.openxmlformats.org/officeDocument/2006/relationships" id="2147483654" r:id="Rb9fde3c2c01e45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b3e4cd2ca7428e" /><Relationship Type="http://schemas.openxmlformats.org/officeDocument/2006/relationships/image" Target="/ppt/media/image.png" Id="R348909244bd048d8" /><Relationship Type="http://schemas.openxmlformats.org/officeDocument/2006/relationships/image" Target="/ppt/media/image2.png" Id="Rbd178acb8a5b474f" /><Relationship Type="http://schemas.openxmlformats.org/officeDocument/2006/relationships/image" Target="/ppt/media/image3.png" Id="Rf29e4b4bc63b4143" /><Relationship Type="http://schemas.openxmlformats.org/officeDocument/2006/relationships/notesSlide" Target="/ppt/notesSlides/notesSlide1.xml" Id="R882bad76f40448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a0a8f4a9d4234" /><Relationship Type="http://schemas.openxmlformats.org/officeDocument/2006/relationships/image" Target="/ppt/media/image4.png" Id="Rea5d80db89314628" /><Relationship Type="http://schemas.openxmlformats.org/officeDocument/2006/relationships/notesSlide" Target="/ppt/notesSlides/notesSlide2.xml" Id="R395955ac9c214b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b2867a12b44eb7" /><Relationship Type="http://schemas.openxmlformats.org/officeDocument/2006/relationships/image" Target="/ppt/media/image5.png" Id="R083cb74e950b467b" /><Relationship Type="http://schemas.openxmlformats.org/officeDocument/2006/relationships/notesSlide" Target="/ppt/notesSlides/notesSlide3.xml" Id="R9c45cc41ad294b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2ab4f8ab564cb1" /><Relationship Type="http://schemas.openxmlformats.org/officeDocument/2006/relationships/image" Target="/ppt/media/image6.png" Id="R9ff39446c717475b" /><Relationship Type="http://schemas.openxmlformats.org/officeDocument/2006/relationships/notesSlide" Target="/ppt/notesSlides/notesSlide4.xml" Id="R5ad71440062840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c1af0983d54e2e" /><Relationship Type="http://schemas.openxmlformats.org/officeDocument/2006/relationships/image" Target="/ppt/media/image7.png" Id="Rd453e23120ca4bf2" /><Relationship Type="http://schemas.openxmlformats.org/officeDocument/2006/relationships/image" Target="/ppt/media/image8.png" Id="R2e0d266dfc1a47b5" /><Relationship Type="http://schemas.openxmlformats.org/officeDocument/2006/relationships/image" Target="/ppt/media/image9.png" Id="R4fe509c1434c4cf3" /><Relationship Type="http://schemas.openxmlformats.org/officeDocument/2006/relationships/notesSlide" Target="/ppt/notesSlides/notesSlide5.xml" Id="Re9058018596c48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faefb8402840e1" /><Relationship Type="http://schemas.openxmlformats.org/officeDocument/2006/relationships/image" Target="/ppt/media/image10.png" Id="R0607f22b56084f09" /><Relationship Type="http://schemas.openxmlformats.org/officeDocument/2006/relationships/notesSlide" Target="/ppt/notesSlides/notesSlide6.xml" Id="R4f95eca2041f47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4c6ab3cfe4931" /><Relationship Type="http://schemas.openxmlformats.org/officeDocument/2006/relationships/image" Target="/ppt/media/image11.png" Id="Rb60dd9b0f4f441d0" /><Relationship Type="http://schemas.openxmlformats.org/officeDocument/2006/relationships/notesSlide" Target="/ppt/notesSlides/notesSlide7.xml" Id="Re85140e57ba44b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22e3393ee342e6" /><Relationship Type="http://schemas.openxmlformats.org/officeDocument/2006/relationships/image" Target="/ppt/media/image12.png" Id="R0342edc088b6444a" /><Relationship Type="http://schemas.openxmlformats.org/officeDocument/2006/relationships/notesSlide" Target="/ppt/notesSlides/notesSlide8.xml" Id="R013eb03d07b04e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cbb8767b6741c5" /><Relationship Type="http://schemas.openxmlformats.org/officeDocument/2006/relationships/image" Target="/ppt/media/image13.png" Id="R4502f825cb634b7a" /><Relationship Type="http://schemas.openxmlformats.org/officeDocument/2006/relationships/notesSlide" Target="/ppt/notesSlides/notesSlide9.xml" Id="Raa9a6d6e31494e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94152e1c7240ae" /><Relationship Type="http://schemas.openxmlformats.org/officeDocument/2006/relationships/image" Target="/ppt/media/image14.png" Id="R0f8bfc7fe7454d09" /><Relationship Type="http://schemas.openxmlformats.org/officeDocument/2006/relationships/image" Target="/ppt/media/image15.png" Id="R85b7e3e5ab2e4e46" /><Relationship Type="http://schemas.openxmlformats.org/officeDocument/2006/relationships/image" Target="/ppt/media/image16.png" Id="Rc60d2d18632946f9" /><Relationship Type="http://schemas.openxmlformats.org/officeDocument/2006/relationships/notesSlide" Target="/ppt/notesSlides/notesSlide10.xml" Id="Rf656483023894a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03080f68a74400" /><Relationship Type="http://schemas.openxmlformats.org/officeDocument/2006/relationships/image" Target="/ppt/media/image17.png" Id="R4f742ecbd8454913" /><Relationship Type="http://schemas.openxmlformats.org/officeDocument/2006/relationships/image" Target="/ppt/media/image18.png" Id="Rbec50773f0564d88" /><Relationship Type="http://schemas.openxmlformats.org/officeDocument/2006/relationships/image" Target="/ppt/media/image19.png" Id="Rfca04a5202024334" /><Relationship Type="http://schemas.openxmlformats.org/officeDocument/2006/relationships/notesSlide" Target="/ppt/notesSlides/notesSlide11.xml" Id="R21ed5bca831e45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38ede9f8d43cf" /><Relationship Type="http://schemas.openxmlformats.org/officeDocument/2006/relationships/notesSlide" Target="/ppt/notesSlides/notesSlide12.xml" Id="Rc525f7e13ccf46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0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D0099-91E8-44F5-9A9D-4BBD2E37F9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909244bd048d8"/>
          <a:stretch xmlns:a="http://schemas.openxmlformats.org/drawingml/2006/main"/>
        </p:blipFill>
        <p:spPr>
          <a:xfrm xmlns:a="http://schemas.openxmlformats.org/drawingml/2006/main">
            <a:off x="609600" y="609600"/>
            <a:ext cx="4000500" cy="133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17DA5-11CC-413F-B8AF-440AE864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00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defPPr>
            <a:lvl1pPr algn="l">
              <a:defRPr sz="300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00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00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00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00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00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00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00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00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61613"/>
                </a:solidFill>
                <a:latin typeface="Georgia"/>
                <a:ea typeface="Georgia"/>
                <a:cs typeface="Georgia"/>
              </a:rPr>
              <a:t>Engram checks a medical recall against your stock — and shows you the proof for every answer.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A9906-0D95-490C-B4DC-10AFD7F8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Open Agent Hackathon 2026  ·  Track 2: The Agent That Can Explain Why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ED904-46F0-4C99-8A2D-D7ACAA0A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Ahmed Rahimi  ·  medical student, building tools for hospital teams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145D9-F114-4ED3-9322-E32305A7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1DB92-9E67-48DD-805E-30E2EEAA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B9B4A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9B4A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9B4A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9B4A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9B4A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9B4A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9B4A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9B4A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9B4A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9B4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9B4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B4A8"/>
                </a:solidFill>
                <a:latin typeface="Arial"/>
                <a:ea typeface="Arial"/>
                <a:cs typeface="Arial"/>
              </a:rPr>
              <a:t>BUILT ON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B9ADB-4890-456D-9E08-7D75C6362B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78acb8a5b474f"/>
          <a:stretch xmlns:a="http://schemas.openxmlformats.org/drawingml/2006/main"/>
        </p:blipFill>
        <p:spPr>
          <a:xfrm xmlns:a="http://schemas.openxmlformats.org/drawingml/2006/main">
            <a:off x="8953500" y="4672310"/>
            <a:ext cx="2381250" cy="38993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5C803-6567-40F2-A12B-4F6A95AD7A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e4b4bc63b4143"/>
          <a:stretch xmlns:a="http://schemas.openxmlformats.org/drawingml/2006/main"/>
        </p:blipFill>
        <p:spPr>
          <a:xfrm xmlns:a="http://schemas.openxmlformats.org/drawingml/2006/main">
            <a:off x="8953500" y="53340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F9B58-094C-4F58-8124-4654E1F6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1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0EDE5"/>
                </a:solidFill>
                <a:latin typeface="Arial"/>
                <a:ea typeface="Arial"/>
                <a:cs typeface="Arial"/>
              </a:rPr>
              <a:t>Meterless Nightshift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6EF50-407E-442E-9D4E-05084F01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953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0EDE5"/>
                </a:solidFill>
                <a:latin typeface="Arial"/>
                <a:ea typeface="Arial"/>
                <a:cs typeface="Arial"/>
              </a:rPr>
              <a:t>NVIDIA Nemotron 3.5 Super</a:t>
            </a:r>
          </a:p>
        </p:txBody>
      </p:sp>
    </p:spTree>
    <p:extLst>
      <p:ext uri="{BB962C8B-B14F-4D97-AF65-F5344CB8AC3E}">
        <p14:creationId xmlns:p14="http://schemas.microsoft.com/office/powerpoint/2010/main" val="416384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323C6-BDEA-4024-A467-88E222AA84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d80db89314628"/>
          <a:stretch xmlns:a="http://schemas.openxmlformats.org/drawingml/2006/main"/>
        </p:blipFill>
        <p:spPr>
          <a:xfrm xmlns:a="http://schemas.openxmlformats.org/drawingml/2006/main">
            <a:off x="609600" y="323850"/>
            <a:ext cx="1028700" cy="342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3EE4C-7DCD-4F8B-97EF-FC892512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B7AE2-A505-43E7-88E2-A6CD7A8A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61613"/>
                </a:solidFill>
                <a:latin typeface="Georgia"/>
                <a:ea typeface="Georgia"/>
                <a:cs typeface="Georgia"/>
              </a:rPr>
              <a:t>In a real 2025 recall, two official documents disagree by one character.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B519B-04EF-485A-8255-C80286F9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476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B5603-F6A2-4804-8D32-3F3719A5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The distributor letter says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66CD4-5E98-42C2-9971-F971EA73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575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950" b="1">
                <a:solidFill>
                  <a:srgbClr val="DA402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4950" b="1">
                <a:solidFill>
                  <a:srgbClr val="DA402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4950" b="1">
                <a:solidFill>
                  <a:srgbClr val="DA402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4950" b="1">
                <a:solidFill>
                  <a:srgbClr val="DA402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4950" b="1">
                <a:solidFill>
                  <a:srgbClr val="DA402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4950" b="1">
                <a:solidFill>
                  <a:srgbClr val="DA402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4950" b="1">
                <a:solidFill>
                  <a:srgbClr val="DA402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4950" b="1">
                <a:solidFill>
                  <a:srgbClr val="DA402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4950" b="1">
                <a:solidFill>
                  <a:srgbClr val="DA402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4950" b="1">
                <a:solidFill>
                  <a:srgbClr val="DA402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DA4026"/>
                </a:solidFill>
                <a:latin typeface="Courier New"/>
                <a:ea typeface="Courier New"/>
                <a:cs typeface="Courier New"/>
              </a:defRPr>
            </a:pPr>
            <a:r>
              <a:rPr sz="4950" b="1">
                <a:solidFill>
                  <a:srgbClr val="DA4026"/>
                </a:solidFill>
                <a:latin typeface="Courier New"/>
                <a:ea typeface="Courier New"/>
                <a:cs typeface="Courier New"/>
              </a:rPr>
              <a:t>23IJA103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2EDA9-3A60-4598-B622-413DC1E8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4476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F5137-E134-48C4-AF32-E52831E5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33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The FDA and the manufacturer say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5B40B-2F41-4F6E-8541-C6920D6E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575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950" b="1">
                <a:solidFill>
                  <a:srgbClr val="161613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4950" b="1">
                <a:solidFill>
                  <a:srgbClr val="161613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4950" b="1">
                <a:solidFill>
                  <a:srgbClr val="161613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4950" b="1">
                <a:solidFill>
                  <a:srgbClr val="161613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4950" b="1">
                <a:solidFill>
                  <a:srgbClr val="161613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4950" b="1">
                <a:solidFill>
                  <a:srgbClr val="161613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4950" b="1">
                <a:solidFill>
                  <a:srgbClr val="161613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4950" b="1">
                <a:solidFill>
                  <a:srgbClr val="161613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4950" b="1">
                <a:solidFill>
                  <a:srgbClr val="161613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4950" b="1">
                <a:solidFill>
                  <a:srgbClr val="161613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161613"/>
                </a:solidFill>
                <a:latin typeface="Courier New"/>
                <a:ea typeface="Courier New"/>
                <a:cs typeface="Courier New"/>
              </a:defRPr>
            </a:pPr>
            <a:r>
              <a:rPr sz="4950" b="1">
                <a:solidFill>
                  <a:srgbClr val="161613"/>
                </a:solidFill>
                <a:latin typeface="Courier New"/>
                <a:ea typeface="Courier New"/>
                <a:cs typeface="Courier New"/>
              </a:rPr>
              <a:t>23JJA103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5326A-701A-440B-851C-A2A80EFB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9875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495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defPPr>
            <a:lvl1pPr algn="ctr">
              <a:defRPr sz="495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1pPr>
            <a:lvl2pPr algn="ctr">
              <a:defRPr sz="495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2pPr>
            <a:lvl3pPr algn="ctr">
              <a:defRPr sz="495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3pPr>
            <a:lvl4pPr algn="ctr">
              <a:defRPr sz="495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4pPr>
            <a:lvl5pPr algn="ctr">
              <a:defRPr sz="495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5pPr>
            <a:lvl6pPr algn="ctr">
              <a:defRPr sz="495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6pPr>
            <a:lvl7pPr algn="ctr">
              <a:defRPr sz="495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7pPr>
            <a:lvl8pPr algn="ctr">
              <a:defRPr sz="495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8pPr>
            <a:lvl9pPr algn="ctr">
              <a:defRPr sz="495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95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pPr>
            <a:r>
              <a:rPr sz="4950" b="0">
                <a:solidFill>
                  <a:srgbClr val="DA4026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395BC-97AA-4643-9B81-803A4224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FDA recall Z-1706-2025: Medline 100 mL saline with leaking bottle seals, 32 affected lots. Match the wrong code and recalled bottles stay on the shelf — or safe stock gets thrown away.</a:t>
            </a:r>
          </a:p>
        </p:txBody>
      </p:sp>
    </p:spTree>
    <p:extLst>
      <p:ext uri="{BB962C8B-B14F-4D97-AF65-F5344CB8AC3E}">
        <p14:creationId xmlns:p14="http://schemas.microsoft.com/office/powerpoint/2010/main" val="2058217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0148B-BA1B-4553-A44B-C74F1B32952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258300" y="2952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015D6-7DA3-4A3C-8117-0D4D26363E4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10400" y="2952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2D507-4E2A-41EE-AAA9-BC8B7E0AA5A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2952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F0A4F-663A-4048-AEB5-C66271B4AFA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14600" y="29527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FA134-7BD4-4001-985D-9C9358CC97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cb74e950b467b"/>
          <a:stretch xmlns:a="http://schemas.openxmlformats.org/drawingml/2006/main"/>
        </p:blipFill>
        <p:spPr>
          <a:xfrm xmlns:a="http://schemas.openxmlformats.org/drawingml/2006/main">
            <a:off x="609600" y="323850"/>
            <a:ext cx="1028700" cy="342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FE261-5A4B-42A0-B8D8-397B3E8B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71374-AEF8-4983-9626-39C25ACC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61613"/>
                </a:solidFill>
                <a:latin typeface="Georgia"/>
                <a:ea typeface="Georgia"/>
                <a:cs typeface="Georgia"/>
              </a:rPr>
              <a:t>Today, a hospital recall coordinator does all of this by hand, for every notice.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69C53-A30F-4292-8E9B-395FBE81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Read the notice</a:t>
            </a:r>
          </a:p>
          <a:p xmlns:a="http://schemas.openxmlformats.org/drawingml/2006/main">
            <a: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(and every update)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9B37F-70CF-4716-8A3D-2A9D562E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Find matching</a:t>
            </a:r>
          </a:p>
          <a:p xmlns:a="http://schemas.openxmlformats.org/drawingml/2006/main">
            <a: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stock and lots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264B6-43A9-47EB-87B7-13298A1A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Pull affected</a:t>
            </a:r>
          </a:p>
          <a:p xmlns:a="http://schemas.openxmlformats.org/drawingml/2006/main">
            <a: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stock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C0624-EF7C-4244-8E30-075DB3CD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81250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Keep every site</a:t>
            </a:r>
          </a:p>
          <a:p xmlns:a="http://schemas.openxmlformats.org/drawingml/2006/main">
            <a: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supplied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624CA-11A8-4252-AE9B-8E7172FF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Record what was</a:t>
            </a:r>
          </a:p>
          <a:p xmlns:a="http://schemas.openxmlformats.org/drawingml/2006/main">
            <a: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decided and why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63AF5-4B28-44A7-8B3B-EBA5F76D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defPPr>
            <a:lvl1pPr algn="l">
              <a:defRPr sz="165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65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65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65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65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65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65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65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65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61613"/>
                </a:solidFill>
                <a:latin typeface="Georgia"/>
                <a:ea typeface="Georgia"/>
                <a:cs typeface="Georgia"/>
              </a:rPr>
              <a:t>“Repeated notice review, fragmented communication and local operational work.”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9A6A9-7898-41B4-9EBC-D725978A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How practitioners from Mayo, Yale New Haven and Froedtert describe it — Healthcare Value Analysis Magazine, “Speed to Safety” roundtable.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FAA42-D5CE-4887-B6A0-22AF74DD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1613"/>
                </a:solidFill>
                <a:latin typeface="Arial"/>
                <a:ea typeface="Arial"/>
                <a:cs typeface="Arial"/>
              </a:rPr>
              <a:t>Who it’s for: recall coordinators, hospital pharmacy, materials and value-analysis teams.</a:t>
            </a:r>
          </a:p>
        </p:txBody>
      </p:sp>
    </p:spTree>
    <p:extLst>
      <p:ext uri="{BB962C8B-B14F-4D97-AF65-F5344CB8AC3E}">
        <p14:creationId xmlns:p14="http://schemas.microsoft.com/office/powerpoint/2010/main" val="558250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09F1C-AFD9-4EF8-BBCD-16C64D9FF7E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rot="16200000" flipH="1">
            <a:off x="4238625" y="3514725"/>
            <a:ext cx="1371600" cy="8191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2E769-372D-4DC7-A721-CC297C6CCC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rot="16200000" flipH="1">
            <a:off x="4772025" y="2981325"/>
            <a:ext cx="304800" cy="8191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A3380-2CE0-4BB7-9BD6-474CB1CAE5B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rot="5400000">
            <a:off x="4543425" y="2447925"/>
            <a:ext cx="762000" cy="8191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B50E6-1499-45DB-950A-C09DA701AD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39446c717475b"/>
          <a:stretch xmlns:a="http://schemas.openxmlformats.org/drawingml/2006/main"/>
        </p:blipFill>
        <p:spPr>
          <a:xfrm xmlns:a="http://schemas.openxmlformats.org/drawingml/2006/main">
            <a:off x="609600" y="323850"/>
            <a:ext cx="1028700" cy="342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5DBB4-1642-43F4-9BDE-7B632E72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464C7-37F7-4C5A-BA93-9AA6CCB2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61613"/>
                </a:solidFill>
                <a:latin typeface="Georgia"/>
                <a:ea typeface="Georgia"/>
                <a:cs typeface="Georgia"/>
              </a:rPr>
              <a:t>You ask one question. Engram answers with evidence and a plan you can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1CA70-7629-45CF-B021-EED4D3A5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776F"/>
                </a:solidFill>
                <a:latin typeface="Arial"/>
                <a:ea typeface="Arial"/>
                <a:cs typeface="Arial"/>
              </a:rPr>
              <a:t>YOU 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BDB21-1B76-445D-8877-8A6FCA9B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905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6161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575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575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575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575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575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575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575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575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575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F0EDE5"/>
                </a:solidFill>
                <a:latin typeface="Georgia"/>
                <a:ea typeface="Georgia"/>
                <a:cs typeface="Georgia"/>
              </a:rPr>
              <a:t>“Which stock is affected by this recall, and can every site still cover its demand?”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F229E-9CC4-4423-8487-22A530C5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52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776F"/>
                </a:solidFill>
                <a:latin typeface="Arial"/>
                <a:ea typeface="Arial"/>
                <a:cs typeface="Arial"/>
              </a:rPr>
              <a:t>ENGRAM ANSWERS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4F2A9-6D3B-4CAF-BF92-B3CF43C3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6248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170AA-009D-4128-9552-628F515A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1336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0">
                <a:solidFill>
                  <a:srgbClr val="DA4026"/>
                </a:solidFill>
                <a:latin typeface="Georgia"/>
                <a:ea typeface="Georgia"/>
                <a:cs typeface="Georgia"/>
              </a:defRPr>
            </a:defPPr>
            <a:lvl1pPr algn="l">
              <a:defRPr sz="2250" b="0">
                <a:solidFill>
                  <a:srgbClr val="DA4026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250" b="0">
                <a:solidFill>
                  <a:srgbClr val="DA4026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250" b="0">
                <a:solidFill>
                  <a:srgbClr val="DA4026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250" b="0">
                <a:solidFill>
                  <a:srgbClr val="DA4026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250" b="0">
                <a:solidFill>
                  <a:srgbClr val="DA4026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250" b="0">
                <a:solidFill>
                  <a:srgbClr val="DA4026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250" b="0">
                <a:solidFill>
                  <a:srgbClr val="DA4026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250" b="0">
                <a:solidFill>
                  <a:srgbClr val="DA4026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250" b="0">
                <a:solidFill>
                  <a:srgbClr val="DA4026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DA4026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DA4026"/>
                </a:solidFill>
                <a:latin typeface="Georgia"/>
                <a:ea typeface="Georgia"/>
                <a:cs typeface="Georgia"/>
              </a:rPr>
              <a:t>120 bottles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642C2-14E9-4E5A-826C-24866374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are taken out of supply — their lots match the FDA 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F55C0-01DC-466B-BB02-57C4539C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6248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772A5-558B-4655-94BF-1B1FCB35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004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0">
                <a:solidFill>
                  <a:srgbClr val="956400"/>
                </a:solidFill>
                <a:latin typeface="Georgia"/>
                <a:ea typeface="Georgia"/>
                <a:cs typeface="Georgia"/>
              </a:defRPr>
            </a:defPPr>
            <a:lvl1pPr algn="l">
              <a:defRPr sz="2250" b="0">
                <a:solidFill>
                  <a:srgbClr val="956400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250" b="0">
                <a:solidFill>
                  <a:srgbClr val="956400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250" b="0">
                <a:solidFill>
                  <a:srgbClr val="956400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250" b="0">
                <a:solidFill>
                  <a:srgbClr val="956400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250" b="0">
                <a:solidFill>
                  <a:srgbClr val="956400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250" b="0">
                <a:solidFill>
                  <a:srgbClr val="956400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250" b="0">
                <a:solidFill>
                  <a:srgbClr val="956400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250" b="0">
                <a:solidFill>
                  <a:srgbClr val="956400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250" b="0">
                <a:solidFill>
                  <a:srgbClr val="95640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956400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956400"/>
                </a:solidFill>
                <a:latin typeface="Georgia"/>
                <a:ea typeface="Georgia"/>
                <a:cs typeface="Georgia"/>
              </a:rPr>
              <a:t>10 bottles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62172-A01D-4D5E-B482-4C53F8A7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04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wait for a human — their lot code is missing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FB5D3-6A23-4D70-AE6F-69B631B9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6248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E8C53-06EE-492A-A3D8-5B08063B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672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0">
                <a:solidFill>
                  <a:srgbClr val="2F6B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2250" b="0">
                <a:solidFill>
                  <a:srgbClr val="2F6B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250" b="0">
                <a:solidFill>
                  <a:srgbClr val="2F6B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250" b="0">
                <a:solidFill>
                  <a:srgbClr val="2F6B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250" b="0">
                <a:solidFill>
                  <a:srgbClr val="2F6B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250" b="0">
                <a:solidFill>
                  <a:srgbClr val="2F6B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250" b="0">
                <a:solidFill>
                  <a:srgbClr val="2F6B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250" b="0">
                <a:solidFill>
                  <a:srgbClr val="2F6B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250" b="0">
                <a:solidFill>
                  <a:srgbClr val="2F6B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250" b="0">
                <a:solidFill>
                  <a:srgbClr val="2F6B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F6B4F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2F6B4F"/>
                </a:solidFill>
                <a:latin typeface="Georgia"/>
                <a:ea typeface="Georgia"/>
                <a:cs typeface="Georgia"/>
              </a:rPr>
              <a:t>30 bottles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C0411-31FF-4A5C-B079-99F803B4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move from site B to site A — every site stays above its safety reserve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38C81-F006-46B8-BE11-ED2B3BFE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Every number links back to the exact source row or notice text. Nothing is physically moved — approvals are recorded in a sandbox only.</a:t>
            </a:r>
          </a:p>
        </p:txBody>
      </p:sp>
    </p:spTree>
    <p:extLst>
      <p:ext uri="{BB962C8B-B14F-4D97-AF65-F5344CB8AC3E}">
        <p14:creationId xmlns:p14="http://schemas.microsoft.com/office/powerpoint/2010/main" val="3388965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0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8DA70-5018-4922-BD05-F808909109E9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705850" y="3619500"/>
            <a:ext cx="6667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D1002-634E-487E-B3E6-31E84F70CE7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05850" y="2905125"/>
            <a:ext cx="66675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A24F3-7AF2-4A06-AD50-FA51BE6DB5C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467350" y="3619500"/>
            <a:ext cx="6667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B9E8F-87B4-48E4-B803-B308FC7D77A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467350" y="2905125"/>
            <a:ext cx="66675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8AE48-876F-4BCE-A465-00FC322DE31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990850" y="3619500"/>
            <a:ext cx="6667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C516A-1EFE-4D18-8650-3DBE7E8F400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90850" y="2905125"/>
            <a:ext cx="66675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B82D8D-AF77-4F14-9E4B-9260B13B9A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3e23120ca4bf2"/>
          <a:stretch xmlns:a="http://schemas.openxmlformats.org/drawingml/2006/main"/>
        </p:blipFill>
        <p:spPr>
          <a:xfrm xmlns:a="http://schemas.openxmlformats.org/drawingml/2006/main">
            <a:off x="609600" y="323850"/>
            <a:ext cx="1028700" cy="342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98B2D-C833-4C1C-9545-2CD58C08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AB00D-E68A-4703-921D-5B3C2D76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61613"/>
                </a:solidFill>
                <a:latin typeface="Georgia"/>
                <a:ea typeface="Georgia"/>
                <a:cs typeface="Georgia"/>
              </a:rPr>
              <a:t>The agent reads and decides what to check. Code does the maths. A checker signs 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B601E-D489-471E-89AE-EA5A9960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8D39E-518C-4AD1-B4FF-07A5AD064F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d266dfc1a47b5"/>
          <a:stretch xmlns:a="http://schemas.openxmlformats.org/drawingml/2006/main"/>
        </p:blipFill>
        <p:spPr>
          <a:xfrm xmlns:a="http://schemas.openxmlformats.org/drawingml/2006/main">
            <a:off x="895350" y="2385477"/>
            <a:ext cx="1809750" cy="29634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7AA74-2599-4117-8475-05573ABB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Hospital data:</a:t>
            </a:r>
          </a:p>
          <a:p xmlns:a="http://schemas.openxmlformats.org/drawingml/2006/main">
            <a:pPr algn="ctr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inventory, shipments,</a:t>
            </a:r>
          </a:p>
          <a:p xmlns:a="http://schemas.openxmlformats.org/drawingml/2006/main">
            <a:pPr algn="ctr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demand, sites, FDA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63496-8BC6-4156-9E89-DE9E5F60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Public recall notices</a:t>
            </a:r>
          </a:p>
          <a:p xmlns:a="http://schemas.openxmlformats.org/drawingml/2006/main">
            <a: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(FDA, MHRA, manufacturers)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C9AFC-91E0-4170-A305-48F4597D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161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0EDE5"/>
                </a:solidFill>
                <a:latin typeface="Arial"/>
                <a:ea typeface="Arial"/>
                <a:cs typeface="Arial"/>
              </a:rPr>
              <a:t>One locked</a:t>
            </a:r>
          </a:p>
          <a:p xmlns:a="http://schemas.openxmlformats.org/drawingml/2006/main">
            <a:pPr algn="ctr">
              <a:defRPr sz="1200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0EDE5"/>
                </a:solidFill>
                <a:latin typeface="Arial"/>
                <a:ea typeface="Arial"/>
                <a:cs typeface="Arial"/>
              </a:rPr>
              <a:t>snapshot</a:t>
            </a:r>
          </a:p>
          <a:p xmlns:a="http://schemas.openxmlformats.org/drawingml/2006/main">
            <a:pPr algn="ctr">
              <a:defRPr sz="1200" b="0">
                <a:solidFill>
                  <a:srgbClr val="F0EDE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0EDE5"/>
                </a:solidFill>
                <a:latin typeface="Arial"/>
                <a:ea typeface="Arial"/>
                <a:cs typeface="Arial"/>
              </a:rPr>
              <a:t>per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8B18D-CC7D-4CF1-92CA-2C807BBD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7990D-4C9E-4098-873B-1079621AAF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509c1434c4cf3"/>
          <a:stretch xmlns:a="http://schemas.openxmlformats.org/drawingml/2006/main"/>
        </p:blipFill>
        <p:spPr>
          <a:xfrm xmlns:a="http://schemas.openxmlformats.org/drawingml/2006/main">
            <a:off x="6324600" y="23812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3085E-7192-4ED3-B695-A4611E11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38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1613"/>
                </a:solidFill>
                <a:latin typeface="Arial"/>
                <a:ea typeface="Arial"/>
                <a:cs typeface="Arial"/>
              </a:rPr>
              <a:t>Meterless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CFAD8-D33F-461B-9D5A-8760D23B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AI agent: NVIDIA Nemotron</a:t>
            </a:r>
          </a:p>
          <a:p xmlns:a="http://schemas.openxmlformats.org/drawingml/2006/main">
            <a: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chooses what to read and</a:t>
            </a:r>
          </a:p>
          <a:p xmlns:a="http://schemas.openxmlformats.org/drawingml/2006/main">
            <a: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which checks to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227F5-2EFA-49A3-8F36-CA99515E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Code: matches lots,</a:t>
            </a:r>
          </a:p>
          <a:p xmlns:a="http://schemas.openxmlformats.org/drawingml/2006/main">
            <a: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computes stock and the</a:t>
            </a:r>
          </a:p>
          <a:p xmlns:a="http://schemas.openxmlformats.org/drawingml/2006/main">
            <a: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transfer 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8AC5C-CA0F-4D54-889B-F6054A2D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57500"/>
            <a:ext cx="22098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DA402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Checker</a:t>
            </a:r>
          </a:p>
          <a:p xmlns:a="http://schemas.openxmlformats.org/drawingml/2006/main">
            <a:pPr algn="ctr">
              <a:defRPr sz="1200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Every claim needs</a:t>
            </a:r>
          </a:p>
          <a:p xmlns:a="http://schemas.openxmlformats.org/drawingml/2006/main">
            <a:pPr algn="ctr">
              <a:defRPr sz="1200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a quote or a</a:t>
            </a:r>
          </a:p>
          <a:p xmlns:a="http://schemas.openxmlformats.org/drawingml/2006/main">
            <a:pPr algn="ctr">
              <a:defRPr sz="1200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computed number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6C517-9B4D-431A-B432-2BB57269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67250"/>
            <a:ext cx="100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3EEE6"/>
          </a:solidFill>
          <a:ln xmlns:a="http://schemas.openxmlformats.org/drawingml/2006/main" w="11906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EB6E1-7564-460B-A1C8-CCB0FE41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667250"/>
            <a:ext cx="100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E1DB"/>
          </a:solidFill>
          <a:ln xmlns:a="http://schemas.openxmlformats.org/drawingml/2006/main" w="11906">
            <a:solidFill>
              <a:srgbClr val="DA402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A4026"/>
                </a:solidFill>
                <a:latin typeface="Arial"/>
                <a:ea typeface="Arial"/>
                <a:cs typeface="Arial"/>
              </a:rPr>
              <a:t>Refuse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AB7E70-3B95-4C07-B7D9-2136479A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Engram shows the evidence and says “human review required” when a claim can’t be proven.</a:t>
            </a:r>
          </a:p>
        </p:txBody>
      </p:sp>
    </p:spTree>
    <p:extLst>
      <p:ext uri="{BB962C8B-B14F-4D97-AF65-F5344CB8AC3E}">
        <p14:creationId xmlns:p14="http://schemas.microsoft.com/office/powerpoint/2010/main" val="7169039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3754C-0960-4080-9CA6-AB27A481DD13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562100" y="3333750"/>
            <a:ext cx="5667375" cy="8953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A776F"/>
            </a:solidFill>
            <a:prstDash val="dash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3EACA-34E1-4BF9-AF5C-F8269FF2E88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420100" y="357187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29834-B24E-49B1-B6DB-6C0963B26CD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276850" y="2857500"/>
            <a:ext cx="76200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17BD7-459C-4A40-B0F5-33A1D9DDB31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276850" y="2143125"/>
            <a:ext cx="76200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8EB53-2A50-432C-A472-999C5B45F30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14600" y="2857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1613"/>
            </a:solidFill>
            <a:prstDash val="solid"/>
            <a:tailEnd type="triangle" w="med" len="med"/>
          </a:ln>
        </p:spPr>
      </p:cxn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791E1C-28CE-47FA-B6D0-062505B4AD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7f22b56084f09"/>
          <a:stretch xmlns:a="http://schemas.openxmlformats.org/drawingml/2006/main"/>
        </p:blipFill>
        <p:spPr>
          <a:xfrm xmlns:a="http://schemas.openxmlformats.org/drawingml/2006/main">
            <a:off x="609600" y="323850"/>
            <a:ext cx="1028700" cy="342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A1EB2-AFA6-4C4A-9FC7-4D1FE081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B20A4-1F8E-4649-94B6-F435B1C8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61613"/>
                </a:solidFill>
                <a:latin typeface="Georgia"/>
                <a:ea typeface="Georgia"/>
                <a:cs typeface="Georgia"/>
              </a:rPr>
              <a:t>If a sentence can’t be traced to a source, Engram won’t show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351FE-BF6D-4369-A02E-92EFA3C5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Agent writes</a:t>
            </a:r>
          </a:p>
          <a:p xmlns:a="http://schemas.openxmlformats.org/drawingml/2006/main">
            <a: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a draft 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B6013-2CAA-487C-A821-51561B76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812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DA402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Checker reads</a:t>
            </a:r>
          </a:p>
          <a:p xmlns:a="http://schemas.openxmlformats.org/drawingml/2006/main">
            <a:pPr algn="ctr">
              <a:defRPr sz="127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every sentence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2C634-0BB5-460C-996F-05A52301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1450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EEE6"/>
          </a:solidFill>
          <a:ln xmlns:a="http://schemas.openxmlformats.org/drawingml/2006/main" w="11906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All proven → shown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74CE2-9F72-40C3-AAA3-2D87801F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4325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E1DB"/>
          </a:solidFill>
          <a:ln xmlns:a="http://schemas.openxmlformats.org/drawingml/2006/main" w="11906">
            <a:solidFill>
              <a:srgbClr val="DA402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A4026"/>
                </a:solidFill>
                <a:latin typeface="Arial"/>
                <a:ea typeface="Arial"/>
                <a:cs typeface="Arial"/>
              </a:rPr>
              <a:t>Not proven → reasons</a:t>
            </a:r>
          </a:p>
          <a:p xmlns:a="http://schemas.openxmlformats.org/drawingml/2006/main">
            <a:pPr algn="ctr">
              <a:defRPr sz="1200" b="0">
                <a:solidFill>
                  <a:srgbClr val="DA402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A4026"/>
                </a:solidFill>
                <a:latin typeface="Arial"/>
                <a:ea typeface="Arial"/>
                <a:cs typeface="Arial"/>
              </a:rPr>
              <a:t>sent back (max 3 tries)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2BEB0-58FE-4836-AD19-E69C10E6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24384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Still failing → bad parts</a:t>
            </a:r>
          </a:p>
          <a:p xmlns:a="http://schemas.openxmlformats.org/drawingml/2006/main">
            <a: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withheld, or the whole</a:t>
            </a:r>
          </a:p>
          <a:p xmlns:a="http://schemas.openxmlformats.org/drawingml/2006/main">
            <a:pPr algn="ctr">
              <a:defRPr sz="11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report refused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6A684-B8CB-4C06-800F-7C07154D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776F"/>
                </a:solidFill>
                <a:latin typeface="Arial"/>
                <a:ea typeface="Arial"/>
                <a:cs typeface="Arial"/>
              </a:rPr>
              <a:t>WHAT IT HAS CAUGHT (paraphrased from real rejected drafts)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A8D08-B5C1-4BE8-9809-A7392EEB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429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29087-AE73-4C99-BAFD-47E8EF12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1613"/>
                </a:solidFill>
                <a:latin typeface="Arial"/>
                <a:ea typeface="Arial"/>
                <a:cs typeface="Arial"/>
              </a:rPr>
              <a:t>A number with no 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D09F7-794E-45DE-B36A-9689C625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2F3437"/>
                </a:solidFill>
                <a:latin typeface="Georgia"/>
                <a:ea typeface="Georgia"/>
                <a:cs typeface="Georgia"/>
              </a:rPr>
              <a:t>“23 batches” when the table lists 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1E203-3513-400D-8DE6-FC501636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62500"/>
            <a:ext cx="3429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2FED9-CB8B-4C51-8945-F93F4DAB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38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1613"/>
                </a:solidFill>
                <a:latin typeface="Arial"/>
                <a:ea typeface="Arial"/>
                <a:cs typeface="Arial"/>
              </a:rPr>
              <a:t>A change the notice never made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0C1EE-6A92-40C8-871F-BF76AAB2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43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2F3437"/>
                </a:solidFill>
                <a:latin typeface="Georgia"/>
                <a:ea typeface="Georgia"/>
                <a:cs typeface="Georgia"/>
              </a:rPr>
              <a:t>“the new notice narrows the recall”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62712-DD34-4DBF-B219-A8A0D4B0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3429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F1B2B1-DDA2-4345-96A0-EC4A1222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38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1613"/>
                </a:solidFill>
                <a:latin typeface="Arial"/>
                <a:ea typeface="Arial"/>
                <a:cs typeface="Arial"/>
              </a:rPr>
              <a:t>A claim about stock the model can’t see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EC9FA-F708-488D-A43B-6544A51E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43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F3437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2F3437"/>
                </a:solidFill>
                <a:latin typeface="Georgia"/>
                <a:ea typeface="Georgia"/>
                <a:cs typeface="Georgia"/>
              </a:rPr>
              <a:t>“these records are safe”</a:t>
            </a:r>
          </a:p>
        </p:txBody>
      </p:sp>
    </p:spTree>
    <p:extLst>
      <p:ext uri="{BB962C8B-B14F-4D97-AF65-F5344CB8AC3E}">
        <p14:creationId xmlns:p14="http://schemas.microsoft.com/office/powerpoint/2010/main" val="3501422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41C726-27C6-4810-8232-022640D0ED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dd9b0f4f441d0"/>
          <a:stretch xmlns:a="http://schemas.openxmlformats.org/drawingml/2006/main"/>
        </p:blipFill>
        <p:spPr>
          <a:xfrm xmlns:a="http://schemas.openxmlformats.org/drawingml/2006/main">
            <a:off x="609600" y="323850"/>
            <a:ext cx="1028700" cy="342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A5C9E-F53F-4C79-B775-9211EE33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0528F-4C05-4E93-88B0-E93EAF12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61613"/>
                </a:solidFill>
                <a:latin typeface="Georgia"/>
                <a:ea typeface="Georgia"/>
                <a:cs typeface="Georgia"/>
              </a:rPr>
              <a:t>Tonight’s live run, step by step: 3 minutes 53 seconds from question to checked plan.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7541E-F776-46FE-8873-91190CE5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FCA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60215-8887-4776-901C-73283108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161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DD874-4C68-4A5A-99EB-DCF53B2E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rPr>
              <a:t>21:29:30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215B0-8F8C-4FE7-BF92-A5AE81A3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1613"/>
                </a:solidFill>
                <a:latin typeface="Arial"/>
                <a:ea typeface="Arial"/>
                <a:cs typeface="Arial"/>
              </a:rPr>
              <a:t>Read 6 Zetaris 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A0AF6-4B2E-4AF6-91B6-FC7D2939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one locked snapshot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44B2B-37C6-4344-954C-03BB6905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161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BCEB3-DEA7-400A-8460-6FB73034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552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rPr>
              <a:t>21:29:36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F5750-2BC6-4757-9C02-E524DC20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290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1613"/>
                </a:solidFill>
                <a:latin typeface="Arial"/>
                <a:ea typeface="Arial"/>
                <a:cs typeface="Arial"/>
              </a:rPr>
              <a:t>Agent reads the notices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F69B4-CCD9-409C-ABAB-7A2E183C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FDA scope, actions, lot 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7E986-4468-4E62-BC05-3A575A3A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402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309EC-638E-49E3-A07C-AD42C9AD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52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rPr>
              <a:t>21:31:12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19873-EF3A-4991-992D-F521BF80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290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A4026"/>
                </a:solidFill>
                <a:latin typeface="Arial"/>
                <a:ea typeface="Arial"/>
                <a:cs typeface="Arial"/>
              </a:rPr>
              <a:t>Checker rejects draft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F2B2E-EF3F-4397-AEEA-66DC6A95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a count had no 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5A8F4E-6BF0-4947-8D7A-0E6EF0F8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05D8B-20F3-422F-BA0D-0D900798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552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rPr>
              <a:t>21:32:04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1E09F-2EEC-4F70-AD04-BD9D1A8F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4290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1613"/>
                </a:solidFill>
                <a:latin typeface="Arial"/>
                <a:ea typeface="Arial"/>
                <a:cs typeface="Arial"/>
              </a:rPr>
              <a:t>Checker accepts draft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F249C7-58C5-4A25-9A4A-5B9D5C57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zero issues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2345F-6177-48D9-B255-58C8E5C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382937-3EA8-4201-8128-6969FE78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52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rPr>
              <a:t>21:32:18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D11C98-770E-4C57-BA7A-7E47D0F8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290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1613"/>
                </a:solidFill>
                <a:latin typeface="Arial"/>
                <a:ea typeface="Arial"/>
                <a:cs typeface="Arial"/>
              </a:rPr>
              <a:t>Code calculates the 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4E5A77-4907-4008-8A47-22012F6C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30 bottles B → 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93A08-C98D-41D6-BB4B-997F63F6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76458B-4BD4-4CF3-A6A5-19FA0D09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52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rPr>
              <a:t>21:32:25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AC0269-515A-4B25-B8F6-6BE6E90D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290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1613"/>
                </a:solidFill>
                <a:latin typeface="Arial"/>
                <a:ea typeface="Arial"/>
                <a:cs typeface="Arial"/>
              </a:rPr>
              <a:t>Plan re-checked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DDAACD-F197-4BE5-979F-7205AFD5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independently, from scratch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B5F720-94DA-4363-85B8-2BA4346C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EEC1DC-B313-4F2E-98EA-80225D1C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52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A776F"/>
                </a:solidFill>
                <a:latin typeface="Courier New"/>
                <a:ea typeface="Courier New"/>
                <a:cs typeface="Courier New"/>
              </a:rPr>
              <a:t>21:33:23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A23F08-7AF7-4872-9D0A-2902EF08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290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1613"/>
                </a:solidFill>
                <a:latin typeface="Arial"/>
                <a:ea typeface="Arial"/>
                <a:cs typeface="Arial"/>
              </a:rPr>
              <a:t>Every number verified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8BAFE7-E7AB-47A2-8885-75B3901B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against the snapshot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E4FC3A-BA52-4D19-8440-DC220661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5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Live on a laptop: Zetaris → Meterless → Nemotron (11 model calls) → checked plan.</a:t>
            </a:r>
          </a:p>
          <a:p xmlns:a="http://schemas.openxmlformats.org/drawingml/2006/main">
            <a: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Hospital data is fictional; the recall is real.</a:t>
            </a:r>
          </a:p>
          <a:p xmlns:a="http://schemas.openxmlformats.org/drawingml/2006/main">
            <a: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In the same run, Meterless H-MEM saved this investigation to memory for the next one.</a:t>
            </a:r>
          </a:p>
        </p:txBody>
      </p:sp>
    </p:spTree>
    <p:extLst>
      <p:ext uri="{BB962C8B-B14F-4D97-AF65-F5344CB8AC3E}">
        <p14:creationId xmlns:p14="http://schemas.microsoft.com/office/powerpoint/2010/main" val="18626781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0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82A1BB-0612-4036-9D18-9927AA1969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2edc088b6444a"/>
          <a:stretch xmlns:a="http://schemas.openxmlformats.org/drawingml/2006/main"/>
        </p:blipFill>
        <p:spPr>
          <a:xfrm xmlns:a="http://schemas.openxmlformats.org/drawingml/2006/main">
            <a:off x="609600" y="323850"/>
            <a:ext cx="1028700" cy="342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AFD3A-7571-4EA4-98EF-CABBE6FF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EDB1B-7B98-4A4A-9B5E-4C463B35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61613"/>
                </a:solidFill>
                <a:latin typeface="Georgia"/>
                <a:ea typeface="Georgia"/>
                <a:cs typeface="Georgia"/>
              </a:rPr>
              <a:t>Where it works today, and where it refuses.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DA890-E17D-4A49-8780-077E37A7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73F15-8352-46F8-A4B9-B427D5D5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Live stock check (Medline saline, FDA)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6EC38-BEEE-41BC-8A48-C31A0DE6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9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99876-F042-4E5B-8845-EDB28B51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19325"/>
            <a:ext cx="504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Answered — every number 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A8099-84A3-4D65-ABC4-3ED17A3A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9A099-3005-455B-B1EB-63B335B5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UK notice update (ChloraPrep, MHRA)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CCA45-7741-4947-B685-6BC69A1C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28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5904D-19F1-48DB-8BCE-BBFBF167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38475"/>
            <a:ext cx="504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Partly answered — 3 findings shown, 2 withheld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0982F-BDBB-41B3-AEBD-8023C795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D6279-D469-4DC4-AB51-8282D609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Device notice update (Olympus ViziShot)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DF020-3EAB-4C2E-BE67-458E3D43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402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D5FBC-E131-45F1-BE30-F54505AA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504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A4026"/>
                </a:solidFill>
                <a:latin typeface="Arial"/>
                <a:ea typeface="Arial"/>
                <a:cs typeface="Arial"/>
              </a:rPr>
              <a:t>Refused — a claim about stock it couldn’t 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A05A0C-B6B9-4738-A616-A148A47F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6CD2A-7043-4DEC-A12C-85ED5790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1613"/>
                </a:solidFill>
                <a:latin typeface="Arial"/>
                <a:ea typeface="Arial"/>
                <a:cs typeface="Arial"/>
              </a:rPr>
              <a:t>Pump notice update (Medtronic MiniMed)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D28C5-742C-4FD1-8650-B5F93E98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67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402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E8261-48E5-4418-80E9-7C130853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76775"/>
            <a:ext cx="504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A4026"/>
                </a:solidFill>
                <a:latin typeface="Arial"/>
                <a:ea typeface="Arial"/>
                <a:cs typeface="Arial"/>
              </a:rPr>
              <a:t>Refused — said “narrows the recall” without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5533F-BB30-45FD-9966-364CE988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A refusal is the safe failure: you see the evidence and “human review required”, never a confident wrong answer. The three notice cases were used while building, so they are not an independent test.</a:t>
            </a:r>
          </a:p>
        </p:txBody>
      </p:sp>
    </p:spTree>
    <p:extLst>
      <p:ext uri="{BB962C8B-B14F-4D97-AF65-F5344CB8AC3E}">
        <p14:creationId xmlns:p14="http://schemas.microsoft.com/office/powerpoint/2010/main" val="220734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0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814C9-03F0-464E-8FF7-93F64D806B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2f825cb634b7a"/>
          <a:stretch xmlns:a="http://schemas.openxmlformats.org/drawingml/2006/main"/>
        </p:blipFill>
        <p:spPr>
          <a:xfrm xmlns:a="http://schemas.openxmlformats.org/drawingml/2006/main">
            <a:off x="609600" y="323850"/>
            <a:ext cx="1028700" cy="342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CF2A3-3C33-44A3-B8E2-5CE75D02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272EA-E43E-4F75-8E84-383763F7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61613"/>
                </a:solidFill>
                <a:latin typeface="Georgia"/>
                <a:ea typeface="Georgia"/>
                <a:cs typeface="Georgia"/>
              </a:rPr>
              <a:t>Real recall notices. A made-up hospital. Nothing about patients.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C82ED-48F5-4D33-A80E-756EC7FE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334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B54D0-B4D4-4ECD-A421-C98F7EFF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F6B4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B4F"/>
                </a:solidFill>
                <a:latin typeface="Arial"/>
                <a:ea typeface="Arial"/>
                <a:cs typeface="Arial"/>
              </a:rPr>
              <a:t>REAL  —  public documents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E71C3-D616-4356-84F2-2368A021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FDA recall Z-1706-2025 — Medline saline, 32 lots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0381F-D574-4A93-AB1E-E1E7845A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MHRA ChloraPrep recalls — May and July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4E69C-BB68-422F-A1B6-B3C17E87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Olympus ViziShot letters — 2025 and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A4714-5912-44B6-85F0-826A9B75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Medtronic MiniMed notices — 2019 and 2021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96022-414A-4783-8391-6A0C0DFE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5334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3496E-1B57-4FE6-BA72-9E77BB72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A4026"/>
                </a:solidFill>
                <a:latin typeface="Arial"/>
                <a:ea typeface="Arial"/>
                <a:cs typeface="Arial"/>
              </a:rPr>
              <a:t>MADE UP  —  served through Zetaris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D0CB2-C78D-434C-A51F-BA482D30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3 sites with stock, demand and safety reserves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40590-F239-48F6-B646-EEA9BE35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Shipments, routes and QA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457CB-8B51-4B60-A200-6DA5230D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71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Earlier decisions to re-check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222FD-AB67-4441-B77E-0F59C4E1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196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Each question locks its own data snapshot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C6AD5-32D8-441E-A00C-12528052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Prototype — not a medical device and not a regulatory tool.</a:t>
            </a:r>
          </a:p>
        </p:txBody>
      </p:sp>
    </p:spTree>
    <p:extLst>
      <p:ext uri="{BB962C8B-B14F-4D97-AF65-F5344CB8AC3E}">
        <p14:creationId xmlns:p14="http://schemas.microsoft.com/office/powerpoint/2010/main" val="1276154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0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0020B-5E3F-4FCF-853A-083217D862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bfc7fe7454d09"/>
          <a:stretch xmlns:a="http://schemas.openxmlformats.org/drawingml/2006/main"/>
        </p:blipFill>
        <p:spPr>
          <a:xfrm xmlns:a="http://schemas.openxmlformats.org/drawingml/2006/main">
            <a:off x="609600" y="323850"/>
            <a:ext cx="1028700" cy="342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41B3F-D0EF-46D7-A88E-7A043326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64937-654A-425E-BBE3-0CCD8203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61613"/>
                </a:solidFill>
                <a:latin typeface="Georgia"/>
                <a:ea typeface="Georgia"/>
                <a:cs typeface="Georgia"/>
              </a:rPr>
              <a:t>Zetaris holds the hospital data. Meterless runs the AI model and remembers past reviews.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DE809-0D7E-43C7-B0C7-80A088FE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EDD31-55FA-4620-AC4B-C6DC36ED71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7e3e5ab2e4e46"/>
          <a:stretch xmlns:a="http://schemas.openxmlformats.org/drawingml/2006/main"/>
        </p:blipFill>
        <p:spPr>
          <a:xfrm xmlns:a="http://schemas.openxmlformats.org/drawingml/2006/main">
            <a:off x="895350" y="2384584"/>
            <a:ext cx="2286000" cy="37433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F53E6-9568-4F6B-8B37-8E49C4C6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The hospital’s data source. Engram reads 6 SQL views through the Zetaris REST API and locks them as one snapshot, so every number in an answer traces back to a 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Tonight: 6 views in 34.6 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5744B-CE80-499D-9787-F729BADD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BBFCE-8AA5-4CF8-B1CC-7D17210C02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d2d18632946f9"/>
          <a:stretch xmlns:a="http://schemas.openxmlformats.org/drawingml/2006/main"/>
        </p:blipFill>
        <p:spPr>
          <a:xfrm xmlns:a="http://schemas.openxmlformats.org/drawingml/2006/main">
            <a:off x="4667250" y="23622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D0486-CEA9-46BA-8CA8-65782D47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38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16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3"/>
                </a:solidFill>
                <a:latin typeface="Arial"/>
                <a:ea typeface="Arial"/>
                <a:cs typeface="Arial"/>
              </a:rPr>
              <a:t>Meterless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3080C-2F9E-45E1-8E1C-D07427CC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Nightshift is the only way Engram reaches the model; the model route is verified on every reply.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H-MEM memory engine: reviewer decisions are recalled before each investigation, and each run is stored for the next (used live tonight; covered by tests).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52B36-3009-4F49-B790-BD9DDFC7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1906">
            <a:solidFill>
              <a:srgbClr val="CFCA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E33E0-731A-4790-A328-E3F3E74F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4E8A1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4E8A1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4E8A1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4E8A1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4E8A1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4E8A1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4E8A1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4E8A1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4E8A1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4E8A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E8A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E8A1A"/>
                </a:solidFill>
                <a:latin typeface="Arial"/>
                <a:ea typeface="Arial"/>
                <a:cs typeface="Arial"/>
              </a:rPr>
              <a:t>NVIDIA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04E73-7AFE-431B-843E-A491E8E9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2F34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F3437"/>
                </a:solidFill>
                <a:latin typeface="Arial"/>
                <a:ea typeface="Arial"/>
                <a:cs typeface="Arial"/>
              </a:rPr>
              <a:t>Nemotron 3.5 Super runs every agent step — choosing sources, calling tools and writing the report the checker reviews.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03611-6E52-4654-B685-573226E9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Built with Claude Code and Codex. Cursor is optional per the organisers’ HackOS announcement of 22 October.</a:t>
            </a:r>
          </a:p>
        </p:txBody>
      </p:sp>
    </p:spTree>
    <p:extLst>
      <p:ext uri="{BB962C8B-B14F-4D97-AF65-F5344CB8AC3E}">
        <p14:creationId xmlns:p14="http://schemas.microsoft.com/office/powerpoint/2010/main" val="12861940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0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A96ED-9957-4082-9151-5E826973A6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42ecbd8454913"/>
          <a:stretch xmlns:a="http://schemas.openxmlformats.org/drawingml/2006/main"/>
        </p:blipFill>
        <p:spPr>
          <a:xfrm xmlns:a="http://schemas.openxmlformats.org/drawingml/2006/main">
            <a:off x="609600" y="323850"/>
            <a:ext cx="1028700" cy="342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C3FD8-846E-4268-8F0B-56453CBE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0E53E-403E-4F2A-87CA-7F7AA2EC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61613"/>
                </a:solidFill>
                <a:latin typeface="Georgia"/>
                <a:ea typeface="Georgia"/>
                <a:cs typeface="Georgia"/>
              </a:defRPr>
            </a:pPr>
            <a:r>
              <a:rPr sz="2475" b="0">
                <a:solidFill>
                  <a:srgbClr val="161613"/>
                </a:solidFill>
                <a:latin typeface="Georgia"/>
                <a:ea typeface="Georgia"/>
                <a:cs typeface="Georgia"/>
              </a:rPr>
              <a:t>What a recall coordinator sees: the plan, and the checked claims behind it.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56246-4673-44CA-B6B8-5EA69A37DA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50773f0564d88"/>
          <a:stretch xmlns:a="http://schemas.openxmlformats.org/drawingml/2006/main"/>
        </p:blipFill>
        <p:spPr>
          <a:xfrm xmlns:a="http://schemas.openxmlformats.org/drawingml/2006/main">
            <a:off x="1587243" y="1857375"/>
            <a:ext cx="5569465" cy="3619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E7AC2-6458-4739-8A7D-B8C1744FC4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04a5202024334"/>
          <a:stretch xmlns:a="http://schemas.openxmlformats.org/drawingml/2006/main"/>
        </p:blipFill>
        <p:spPr>
          <a:xfrm xmlns:a="http://schemas.openxmlformats.org/drawingml/2006/main">
            <a:off x="9006373" y="1857375"/>
            <a:ext cx="2142153" cy="3619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17772-0CAA-46F8-A4E7-6DFE22AF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The checked plan: who sends how many bottles, and what each site has left after demand.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B61B2-7C41-451C-BF90-FF1F3184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72125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A77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A776F"/>
                </a:solidFill>
                <a:latin typeface="Arial"/>
                <a:ea typeface="Arial"/>
                <a:cs typeface="Arial"/>
              </a:rPr>
              <a:t>Verified claims, each linked to its source.</a:t>
            </a:r>
          </a:p>
        </p:txBody>
      </p:sp>
    </p:spTree>
    <p:extLst>
      <p:ext uri="{BB962C8B-B14F-4D97-AF65-F5344CB8AC3E}">
        <p14:creationId xmlns:p14="http://schemas.microsoft.com/office/powerpoint/2010/main" val="146753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616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A2764-93D1-49F4-A857-D3C08BE2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A40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A4026"/>
                </a:solidFill>
                <a:latin typeface="Arial"/>
                <a:ea typeface="Arial"/>
                <a:cs typeface="Arial"/>
              </a:rPr>
              <a:t>What’s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84CF9-DB0C-4785-8A16-940BE4F1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40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E97A5-EBA4-4089-909F-86D46AD5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1D6"/>
                </a:solidFill>
                <a:latin typeface="Arial"/>
                <a:ea typeface="Arial"/>
                <a:cs typeface="Arial"/>
              </a:rPr>
              <a:t>Test on recall notices it has never seen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023FA-5B1D-49D0-BB61-C664D109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402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B8BBC-7581-4A43-AEF5-91C15181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1D6"/>
                </a:solidFill>
                <a:latin typeface="Arial"/>
                <a:ea typeface="Arial"/>
                <a:cs typeface="Arial"/>
              </a:rPr>
              <a:t>Catch “offer” vs “requirement” wording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2398F-BFD7-4A5D-AA1B-E14CD329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402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683BE-B79D-4B04-BA21-808932B2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1D6"/>
                </a:solidFill>
                <a:latin typeface="Arial"/>
                <a:ea typeface="Arial"/>
                <a:cs typeface="Arial"/>
              </a:rPr>
              <a:t>Check device details, not only lot and 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87B21-4CAE-407B-904C-546C0D99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402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C1D5E-E8DB-4581-B567-B8C0D45D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6E1D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6E1D6"/>
                </a:solidFill>
                <a:latin typeface="Arial"/>
                <a:ea typeface="Arial"/>
                <a:cs typeface="Arial"/>
              </a:rPr>
              <a:t>Pilot with real recall coordinators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C18FA-E3FF-4CB1-90A4-D4DC3F44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0EDE5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F0EDE5"/>
                </a:solidFill>
                <a:latin typeface="Georgia"/>
                <a:ea typeface="Georgia"/>
                <a:cs typeface="Georgia"/>
              </a:rPr>
              <a:t>A recall assistant that shows its proof — and says so when it has none.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60CC1-1D2F-422B-B1A9-A065BCA7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B9B4A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9B4A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9B4A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9B4A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9B4A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9B4A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9B4A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9B4A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9B4A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9B4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9B4A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9B4A8"/>
                </a:solidFill>
                <a:latin typeface="Arial"/>
                <a:ea typeface="Arial"/>
                <a:cs typeface="Arial"/>
              </a:rPr>
              <a:t>Engram  ·  Ahmed Rahimi  ·  Open Agent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1256772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2026-10-27T22:05:11.5500000Z</dcterms:created>
  <dcterms:modified xsi:type="dcterms:W3CDTF">2026-10-27T22:05:11.5510000Z</dcterms:modified>
</coreProperties>
</file>